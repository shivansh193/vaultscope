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5" Type="http://schemas.openxmlformats.org/officeDocument/2006/relationships/image" Target="../media/image3.png"/><Relationship Id="rId100" Type="http://schemas.openxmlformats.org/officeDocument/2006/relationships/image" Target="../media/image10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6" Type="http://schemas.openxmlformats.org/officeDocument/2006/relationships/image" Target="../media/image4.png"/><Relationship Id="rId100" Type="http://schemas.openxmlformats.org/officeDocument/2006/relationships/image" Target="../media/image100.png"/><Relationship Id="rId101" Type="http://schemas.openxmlformats.org/officeDocument/2006/relationships/image" Target="../media/image10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5" Type="http://schemas.openxmlformats.org/officeDocument/2006/relationships/image" Target="../media/image5.png"/><Relationship Id="rId100" Type="http://schemas.openxmlformats.org/officeDocument/2006/relationships/image" Target="../media/image10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SIH26160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IPsec VPN Protocol Analyzer &amp; Security Assessment Framework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ID- 183631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Name- frontend-backend-tragedy</a:t>
            </a:r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40080" y="-91440"/>
            <a:ext cx="10972800" cy="109728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11480" y="1234440"/>
            <a:ext cx="566928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marL="285750" indent="-285750">
              <a:spcAft>
                <a:spcPts val="900"/>
              </a:spcAft>
              <a:buFont typeface="Arial" pitchFamily="34" charset="0"/>
              <a:buChar char="•"/>
            </a:pPr>
            <a:r>
              <a:rPr lang="en-US" sz="1500" dirty="0" b="1">
                <a:latin typeface="Arial" pitchFamily="34" charset="0"/>
                <a:cs typeface="Arial" pitchFamily="34" charset="0"/>
              </a:rPr>
              <a:t>One capture in, a scored assessment out. 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VaultScope reads an IPsec PCAP or live stream and tells an analyst how strong the VPN is, with no manual packet inspection.</a:t>
            </a:r>
          </a:p>
          <a:p>
            <a:pPr algn="l" marL="285750" indent="-285750">
              <a:spcAft>
                <a:spcPts val="900"/>
              </a:spcAft>
              <a:buFont typeface="Arial" pitchFamily="34" charset="0"/>
              <a:buChar char="•"/>
            </a:pPr>
            <a:r>
              <a:rPr lang="en-US" sz="1500" dirty="0" b="1">
                <a:latin typeface="Arial" pitchFamily="34" charset="0"/>
                <a:cs typeface="Arial" pitchFamily="34" charset="0"/>
              </a:rPr>
              <a:t>Two AI problems, kept separate. 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Crypto identification is a cleartext parser, because IKE negotiates in the clear. Traffic type inside ESP is ML on packet-size and timing metadata.</a:t>
            </a:r>
          </a:p>
          <a:p>
            <a:pPr algn="l" marL="285750" indent="-285750">
              <a:spcAft>
                <a:spcPts val="900"/>
              </a:spcAft>
              <a:buFont typeface="Arial" pitchFamily="34" charset="0"/>
              <a:buChar char="•"/>
            </a:pPr>
            <a:r>
              <a:rPr lang="en-US" sz="1500" dirty="0" b="1">
                <a:latin typeface="Arial" pitchFamily="34" charset="0"/>
                <a:cs typeface="Arial" pitchFamily="34" charset="0"/>
              </a:rPr>
              <a:t>Full assessment. 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21 CVE and RFC-linked rules, 5 compliance baselines, a metadata-exposure score, post-quantum readiness and attack detection that cites exact pcap frames.</a:t>
            </a:r>
          </a:p>
          <a:p>
            <a:pPr algn="l" marL="285750" indent="-285750">
              <a:spcAft>
                <a:spcPts val="900"/>
              </a:spcAft>
              <a:buFont typeface="Arial" pitchFamily="34" charset="0"/>
              <a:buChar char="•"/>
            </a:pPr>
            <a:r>
              <a:rPr lang="en-US" sz="1500" dirty="0" b="1">
                <a:latin typeface="Arial" pitchFamily="34" charset="0"/>
                <a:cs typeface="Arial" pitchFamily="34" charset="0"/>
              </a:rPr>
              <a:t>Every output the brief asks for. 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Risk score, threat matrix, AI confidence score, executive and technical reports, live dashboard, JSON/CEF export.</a:t>
            </a:r>
          </a:p>
          <a:p>
            <a:pPr algn="l" marL="285750" indent="-285750">
              <a:spcAft>
                <a:spcPts val="900"/>
              </a:spcAft>
              <a:buFont typeface="Arial" pitchFamily="34" charset="0"/>
              <a:buChar char="•"/>
            </a:pPr>
            <a:r>
              <a:rPr lang="en-US" sz="1500" dirty="0" b="1">
                <a:latin typeface="Arial" pitchFamily="34" charset="0"/>
                <a:cs typeface="Arial" pitchFamily="34" charset="0"/>
              </a:rPr>
              <a:t>What is unique. 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A hand-written RFC 7296 / 2408 decoder and a first-party labeled dataset from real strongSwan tunnels.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400"/>
              <a:t>VaultScope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Diagram - Two AI Problems" descr="Crypto identification is a parser; traffic-type inference is machine learn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325880"/>
            <a:ext cx="5577840" cy="3067812"/>
          </a:xfrm>
          <a:prstGeom prst="rect">
            <a:avLst/>
          </a:prstGeom>
        </p:spPr>
      </p:pic>
      <p:sp>
        <p:nvSpPr>
          <p:cNvPr id="15364" name="Coverage callout"/>
          <p:cNvSpPr/>
          <p:nvPr/>
        </p:nvSpPr>
        <p:spPr>
          <a:xfrm>
            <a:off x="6263640" y="4617720"/>
            <a:ext cx="5577840" cy="1463040"/>
          </a:xfrm>
          <a:prstGeom prst="roundRect">
            <a:avLst>
              <a:gd name="adj" fmla="val 12000"/>
            </a:avLst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C1C1E"/>
                </a:solidFill>
                <a:latin typeface="Arial"/>
              </a:rPr>
              <a:t>Covers every item in the brief</a:t>
            </a:r>
          </a:p>
          <a:p>
            <a:pPr algn="ctr"/>
            <a:r>
              <a:rPr sz="1300" b="0">
                <a:solidFill>
                  <a:srgbClr val="1C1C1E"/>
                </a:solidFill>
                <a:latin typeface="Arial"/>
              </a:rPr>
              <a:t>(a) testbed  (b) capture  (c) protocol and traffic identification</a:t>
            </a:r>
          </a:p>
          <a:p>
            <a:pPr algn="ctr"/>
            <a:r>
              <a:rPr sz="1300" b="0">
                <a:solidFill>
                  <a:srgbClr val="1C1C1E"/>
                </a:solidFill>
                <a:latin typeface="Arial"/>
              </a:rPr>
              <a:t>(d) security assessment  (e) scores and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549640" y="1234440"/>
            <a:ext cx="3291840" cy="3383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marL="0" indent="0">
              <a:spcAft>
                <a:spcPts val="500"/>
              </a:spcAft>
              <a:buNone/>
            </a:pPr>
            <a:r>
              <a:rPr lang="en-US" sz="1300" dirty="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Stack</a:t>
            </a:r>
          </a:p>
          <a:p>
            <a:pPr algn="l" marL="285750" indent="-28575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Python 3.11, scapy, FastAPI, SQLite</a:t>
            </a:r>
          </a:p>
          <a:p>
            <a:pPr algn="l" marL="285750" indent="-28575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scikit-learn RandomForest and XGBoost, picked by macro-F1</a:t>
            </a:r>
          </a:p>
          <a:p>
            <a:pPr algn="l" marL="285750" indent="-28575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strongSwan in Docker; tcpdump / dumpcap capture</a:t>
            </a:r>
          </a:p>
          <a:p>
            <a:pPr algn="l" marL="285750" indent="-28575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Jinja2 + WeasyPrint reports</a:t>
            </a:r>
          </a:p>
          <a:p>
            <a:pPr algn="l" marL="285750" indent="-28575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Next.js, Tailwind, Recharts, D3</a:t>
            </a:r>
          </a:p>
          <a:p>
            <a:pPr algn="l" marL="285750" indent="-285750">
              <a:spcAft>
                <a:spcPts val="500"/>
              </a:spcAft>
              <a:buFont typeface="Arial" pitchFamily="34" charset="0"/>
              <a:buChar char="•"/>
            </a:pPr>
            <a:r>
              <a:rPr lang="en-US" sz="1300" dirty="0">
                <a:latin typeface="Arial" pitchFamily="34" charset="0"/>
                <a:cs typeface="Arial" pitchFamily="34" charset="0"/>
              </a:rPr>
              <a:t>One docker compose command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400"/>
              <a:t>VaultScope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Diagram - Pipeline" descr="Testbed, ingestion, IKE parser and flow features feed the protocol classifier, traffic classifier and rule engine, then scoring and report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1280160"/>
            <a:ext cx="8046720" cy="3384135"/>
          </a:xfrm>
          <a:prstGeom prst="rect">
            <a:avLst/>
          </a:prstGeom>
        </p:spPr>
      </p:pic>
      <p:sp>
        <p:nvSpPr>
          <p:cNvPr id="17412" name="Method notes"/>
          <p:cNvSpPr txBox="1">
            <a:spLocks noChangeArrowheads="1"/>
          </p:cNvSpPr>
          <p:nvPr/>
        </p:nvSpPr>
        <p:spPr bwMode="auto">
          <a:xfrm>
            <a:off x="457200" y="4754880"/>
            <a:ext cx="11338560" cy="1463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marL="285750" indent="-28575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300" dirty="0" b="1">
                <a:latin typeface="Arial" pitchFamily="34" charset="0"/>
                <a:cs typeface="Arial" pitchFamily="34" charset="0"/>
              </a:rPr>
              <a:t>IKE parser: </a:t>
            </a:r>
            <a:r>
              <a:rPr lang="en-US" sz="1300" dirty="0">
                <a:latin typeface="Arial" pitchFamily="34" charset="0"/>
                <a:cs typeface="Arial" pitchFamily="34" charset="0"/>
              </a:rPr>
              <a:t>pure-struct decoder. Aggressive Mode comes from the ID payload in message 1, not message count; PFS only from a real second DH exchange.</a:t>
            </a:r>
          </a:p>
          <a:p>
            <a:pPr algn="l" marL="285750" indent="-28575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300" dirty="0" b="1">
                <a:latin typeface="Arial" pitchFamily="34" charset="0"/>
                <a:cs typeface="Arial" pitchFamily="34" charset="0"/>
              </a:rPr>
              <a:t>Traffic model: </a:t>
            </a:r>
            <a:r>
              <a:rPr lang="en-US" sz="1300" dirty="0">
                <a:latin typeface="Arial" pitchFamily="34" charset="0"/>
                <a:cs typeface="Arial" pitchFamily="34" charset="0"/>
              </a:rPr>
              <a:t>13 metadata features per ESP flow, trained on 300 real captures, with per-prediction explanations and an abstain threshold.</a:t>
            </a:r>
          </a:p>
          <a:p>
            <a:pPr algn="l" marL="285750" indent="-28575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300" dirty="0" b="1">
                <a:latin typeface="Arial" pitchFamily="34" charset="0"/>
                <a:cs typeface="Arial" pitchFamily="34" charset="0"/>
              </a:rPr>
              <a:t>Assessment: </a:t>
            </a:r>
            <a:r>
              <a:rPr lang="en-US" sz="1300" dirty="0">
                <a:latin typeface="Arial" pitchFamily="34" charset="0"/>
                <a:cs typeface="Arial" pitchFamily="34" charset="0"/>
              </a:rPr>
              <a:t>21 YAML rules. Fields hidden by encryption read 'unknown' or 'inferred', never a guess; imported swanctl / ip xfrm state can fill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223760" y="1188720"/>
            <a:ext cx="466344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n-US" sz="1200" dirty="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Built and tested</a:t>
            </a:r>
          </a:p>
          <a:p>
            <a:pPr algn="l" marL="285750" indent="-28575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Runs today: one docker compose command; 380 Python, 57 unit and 23 end-to-end tests in CI</a:t>
            </a:r>
          </a:p>
          <a:p>
            <a:pPr algn="l" marL="285750" indent="-28575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Real data: 300 captures, 136 of 144 matrix cells, tunnel and transport, IPv4 and IPv6, PFS on and off</a:t>
            </a:r>
          </a:p>
          <a:p>
            <a:pPr algn="l" marL="285750" indent="-28575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Fast: about 1 s warm for a 2,884-packet, six-tunnel capture</a:t>
            </a:r>
          </a:p>
          <a:p>
            <a:pPr algn="l" marL="285750" indent="-28575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Honest accuracy: macro-F1 0.98 on 45 held-out flows is an upper bound, not a field number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lang="en-US" sz="1200" dirty="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Constraints and mitigations</a:t>
            </a:r>
          </a:p>
          <a:p>
            <a:pPr algn="l" marL="285750" indent="-28575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Encrypted payload: metadata only, with a confidence score and an abstain threshold</a:t>
            </a:r>
          </a:p>
          <a:p>
            <a:pPr algn="l" marL="285750" indent="-28575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Mode, PFS and auth sit in encrypted IKE_AUTH: reported 'unknown' or 'inferred', or filled from gateway state</a:t>
            </a:r>
          </a:p>
          <a:p>
            <a:pPr algn="l" marL="285750" indent="-28575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Lab-clean, one class per capture: disclosed; held-out runs by cipher and DH group are scripted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400"/>
              <a:t>VaultScope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Diagram - Dataset and Model" descr="300 labeled captures from real strongSwan tunnels and the held-out confusion matri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280160"/>
            <a:ext cx="6766560" cy="3806190"/>
          </a:xfrm>
          <a:prstGeom prst="rect">
            <a:avLst/>
          </a:prstGeom>
        </p:spPr>
      </p:pic>
      <p:sp>
        <p:nvSpPr>
          <p:cNvPr id="17412" name="Status chip"/>
          <p:cNvSpPr/>
          <p:nvPr/>
        </p:nvSpPr>
        <p:spPr>
          <a:xfrm>
            <a:off x="365760" y="5440680"/>
            <a:ext cx="1234440" cy="64008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(a) Testbed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7413" name="Status chip"/>
          <p:cNvSpPr/>
          <p:nvPr/>
        </p:nvSpPr>
        <p:spPr>
          <a:xfrm>
            <a:off x="1737360" y="5440680"/>
            <a:ext cx="1234440" cy="64008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(b) Capture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7414" name="Status chip"/>
          <p:cNvSpPr/>
          <p:nvPr/>
        </p:nvSpPr>
        <p:spPr>
          <a:xfrm>
            <a:off x="3108960" y="5440680"/>
            <a:ext cx="1234440" cy="64008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(c) Identify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7415" name="Status chip"/>
          <p:cNvSpPr/>
          <p:nvPr/>
        </p:nvSpPr>
        <p:spPr>
          <a:xfrm>
            <a:off x="4480560" y="5440680"/>
            <a:ext cx="1234440" cy="64008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(d) Assess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  <p:sp>
        <p:nvSpPr>
          <p:cNvPr id="17416" name="Status chip"/>
          <p:cNvSpPr/>
          <p:nvPr/>
        </p:nvSpPr>
        <p:spPr>
          <a:xfrm>
            <a:off x="5852160" y="5440680"/>
            <a:ext cx="1234440" cy="64008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(e) Reports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4114800"/>
            <a:ext cx="11338560" cy="2103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marL="285750" indent="-28575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 b="1">
                <a:latin typeface="Arial" pitchFamily="34" charset="0"/>
                <a:cs typeface="Arial" pitchFamily="34" charset="0"/>
              </a:rPr>
              <a:t>Analysts: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a scored, referenced verdict on any IPsec capture without reading packets. Every finding names the CVE or RFC behind it and a vendor-specific configuration fix.</a:t>
            </a:r>
          </a:p>
          <a:p>
            <a:pPr algn="l" marL="285750" indent="-28575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 b="1">
                <a:latin typeface="Arial" pitchFamily="34" charset="0"/>
                <a:cs typeface="Arial" pitchFamily="34" charset="0"/>
              </a:rPr>
              <a:t>Auditors and leadership: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compliance mapped to NIST, BSI, CNSA 2.0, CERT-In and TEC ITSAR, a plain-English executive PDF, and SIEM-ready JSON/CEF export.</a:t>
            </a:r>
          </a:p>
          <a:p>
            <a:pPr algn="l" marL="285750" indent="-285750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 b="1">
                <a:latin typeface="Arial" pitchFamily="34" charset="0"/>
                <a:cs typeface="Arial" pitchFamily="34" charset="0"/>
              </a:rPr>
              <a:t>The ecosystem: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the testbed and the 300-capture labeled dataset are reproducible, so others can extend and benchmark the work. Passive by default, so live traffic is never disrupted.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400"/>
              <a:t>VaultScope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Label"/>
          <p:cNvSpPr txBox="1"/>
          <p:nvPr/>
        </p:nvSpPr>
        <p:spPr>
          <a:xfrm>
            <a:off x="411480" y="1280160"/>
            <a:ext cx="54864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5B5B60"/>
                </a:solidFill>
                <a:latin typeface="Arial"/>
              </a:rPr>
              <a:t>TODAY: manual, expert-only</a:t>
            </a:r>
          </a:p>
        </p:txBody>
      </p:sp>
      <p:sp>
        <p:nvSpPr>
          <p:cNvPr id="17412" name="Label"/>
          <p:cNvSpPr txBox="1"/>
          <p:nvPr/>
        </p:nvSpPr>
        <p:spPr>
          <a:xfrm>
            <a:off x="411480" y="2743200"/>
            <a:ext cx="54864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/>
            <a:r>
              <a:rPr sz="1200" b="1">
                <a:solidFill>
                  <a:srgbClr val="0070C0"/>
                </a:solidFill>
                <a:latin typeface="Arial"/>
              </a:rPr>
              <a:t>WITH VAULTSCOPE: about 1 s per 2,884-packet capture, warm</a:t>
            </a:r>
          </a:p>
        </p:txBody>
      </p:sp>
      <p:sp>
        <p:nvSpPr>
          <p:cNvPr id="17413" name="Manual step"/>
          <p:cNvSpPr/>
          <p:nvPr/>
        </p:nvSpPr>
        <p:spPr>
          <a:xfrm>
            <a:off x="411480" y="1572768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C1C1E"/>
                </a:solidFill>
                <a:latin typeface="Arial"/>
              </a:rPr>
              <a:t>Capture traffic</a:t>
            </a:r>
          </a:p>
        </p:txBody>
      </p:sp>
      <p:sp>
        <p:nvSpPr>
          <p:cNvPr id="17414" name="VaultScope step"/>
          <p:cNvSpPr/>
          <p:nvPr/>
        </p:nvSpPr>
        <p:spPr>
          <a:xfrm>
            <a:off x="411480" y="3035808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Upload a PCAP or capture live</a:t>
            </a:r>
          </a:p>
        </p:txBody>
      </p:sp>
      <p:sp>
        <p:nvSpPr>
          <p:cNvPr id="17415" name="Arrow"/>
          <p:cNvSpPr/>
          <p:nvPr/>
        </p:nvSpPr>
        <p:spPr>
          <a:xfrm>
            <a:off x="2468880" y="1901952"/>
            <a:ext cx="237744" cy="201168"/>
          </a:xfrm>
          <a:prstGeom prst="rightArrow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Arrow"/>
          <p:cNvSpPr/>
          <p:nvPr/>
        </p:nvSpPr>
        <p:spPr>
          <a:xfrm>
            <a:off x="2468880" y="3364992"/>
            <a:ext cx="237744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Manual step"/>
          <p:cNvSpPr/>
          <p:nvPr/>
        </p:nvSpPr>
        <p:spPr>
          <a:xfrm>
            <a:off x="2752344" y="1572768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C1C1E"/>
                </a:solidFill>
                <a:latin typeface="Arial"/>
              </a:rPr>
              <a:t>Open in Wireshark</a:t>
            </a:r>
          </a:p>
        </p:txBody>
      </p:sp>
      <p:sp>
        <p:nvSpPr>
          <p:cNvPr id="17418" name="VaultScope step"/>
          <p:cNvSpPr/>
          <p:nvPr/>
        </p:nvSpPr>
        <p:spPr>
          <a:xfrm>
            <a:off x="2752344" y="3035808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Automatic protocol and traffic identification</a:t>
            </a:r>
          </a:p>
        </p:txBody>
      </p:sp>
      <p:sp>
        <p:nvSpPr>
          <p:cNvPr id="17419" name="Arrow"/>
          <p:cNvSpPr/>
          <p:nvPr/>
        </p:nvSpPr>
        <p:spPr>
          <a:xfrm>
            <a:off x="4809744" y="1901952"/>
            <a:ext cx="237744" cy="201168"/>
          </a:xfrm>
          <a:prstGeom prst="rightArrow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Arrow"/>
          <p:cNvSpPr/>
          <p:nvPr/>
        </p:nvSpPr>
        <p:spPr>
          <a:xfrm>
            <a:off x="4809744" y="3364992"/>
            <a:ext cx="237744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Manual step"/>
          <p:cNvSpPr/>
          <p:nvPr/>
        </p:nvSpPr>
        <p:spPr>
          <a:xfrm>
            <a:off x="5093208" y="1572768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C1C1E"/>
                </a:solidFill>
                <a:latin typeface="Arial"/>
              </a:rPr>
              <a:t>Work out the configuration by hand</a:t>
            </a:r>
          </a:p>
        </p:txBody>
      </p:sp>
      <p:sp>
        <p:nvSpPr>
          <p:cNvPr id="17422" name="VaultScope step"/>
          <p:cNvSpPr/>
          <p:nvPr/>
        </p:nvSpPr>
        <p:spPr>
          <a:xfrm>
            <a:off x="5093208" y="3035808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21 rules, 5 baselines, exposure score</a:t>
            </a:r>
          </a:p>
        </p:txBody>
      </p:sp>
      <p:sp>
        <p:nvSpPr>
          <p:cNvPr id="17423" name="Arrow"/>
          <p:cNvSpPr/>
          <p:nvPr/>
        </p:nvSpPr>
        <p:spPr>
          <a:xfrm>
            <a:off x="7150608" y="1901952"/>
            <a:ext cx="237744" cy="201168"/>
          </a:xfrm>
          <a:prstGeom prst="rightArrow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Arrow"/>
          <p:cNvSpPr/>
          <p:nvPr/>
        </p:nvSpPr>
        <p:spPr>
          <a:xfrm>
            <a:off x="7150608" y="3364992"/>
            <a:ext cx="237744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Manual step"/>
          <p:cNvSpPr/>
          <p:nvPr/>
        </p:nvSpPr>
        <p:spPr>
          <a:xfrm>
            <a:off x="7434071" y="1572768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C1C1E"/>
                </a:solidFill>
                <a:latin typeface="Arial"/>
              </a:rPr>
              <a:t>Judge crypto and compliance</a:t>
            </a:r>
          </a:p>
        </p:txBody>
      </p:sp>
      <p:sp>
        <p:nvSpPr>
          <p:cNvPr id="17426" name="VaultScope step"/>
          <p:cNvSpPr/>
          <p:nvPr/>
        </p:nvSpPr>
        <p:spPr>
          <a:xfrm>
            <a:off x="7434071" y="3035808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Risk score and threat matrix</a:t>
            </a:r>
          </a:p>
        </p:txBody>
      </p:sp>
      <p:sp>
        <p:nvSpPr>
          <p:cNvPr id="17427" name="Arrow"/>
          <p:cNvSpPr/>
          <p:nvPr/>
        </p:nvSpPr>
        <p:spPr>
          <a:xfrm>
            <a:off x="9491472" y="1901952"/>
            <a:ext cx="237744" cy="201168"/>
          </a:xfrm>
          <a:prstGeom prst="rightArrow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Arrow"/>
          <p:cNvSpPr/>
          <p:nvPr/>
        </p:nvSpPr>
        <p:spPr>
          <a:xfrm>
            <a:off x="9491472" y="3364992"/>
            <a:ext cx="237744" cy="201168"/>
          </a:xfrm>
          <a:prstGeom prst="rightArrow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Manual step"/>
          <p:cNvSpPr/>
          <p:nvPr/>
        </p:nvSpPr>
        <p:spPr>
          <a:xfrm>
            <a:off x="9774936" y="1572768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C1C1E"/>
                </a:solidFill>
                <a:latin typeface="Arial"/>
              </a:rPr>
              <a:t>Write the report</a:t>
            </a:r>
          </a:p>
        </p:txBody>
      </p:sp>
      <p:sp>
        <p:nvSpPr>
          <p:cNvPr id="17430" name="VaultScope step"/>
          <p:cNvSpPr/>
          <p:nvPr/>
        </p:nvSpPr>
        <p:spPr>
          <a:xfrm>
            <a:off x="9774936" y="3035808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Executive and technical reports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371600"/>
            <a:ext cx="1115568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marL="285750" indent="-285750">
              <a:spcAft>
                <a:spcPts val="900"/>
              </a:spcAft>
              <a:buFont typeface="Arial" pitchFamily="34" charset="0"/>
              <a:buChar char="•"/>
            </a:pPr>
            <a:r>
              <a:rPr lang="en-US" sz="1500" dirty="0" b="1">
                <a:latin typeface="Arial" pitchFamily="34" charset="0"/>
                <a:cs typeface="Arial" pitchFamily="34" charset="0"/>
              </a:rPr>
              <a:t>Standards: 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RFC 7296 (IKEv2), RFC 2408 and 2409 (ISAKMP, IKEv1), RFC 4301 and 4303 (IPsec architecture, ESP anti-replay), RFC 3947 (NAT-T), RFC 7427, RFC 8247 (IKEv2 algorithm guidance), RFC 9370 (multiple key exchanges, post-quantum hybrid).</a:t>
            </a:r>
          </a:p>
          <a:p>
            <a:pPr algn="l" marL="285750" indent="-285750">
              <a:spcAft>
                <a:spcPts val="900"/>
              </a:spcAft>
              <a:buFont typeface="Arial" pitchFamily="34" charset="0"/>
              <a:buChar char="•"/>
            </a:pPr>
            <a:r>
              <a:rPr lang="en-US" sz="1500" dirty="0" b="1">
                <a:latin typeface="Arial" pitchFamily="34" charset="0"/>
                <a:cs typeface="Arial" pitchFamily="34" charset="0"/>
              </a:rPr>
              <a:t>Guidance: 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NIST SP 800-77r1, NIST SP 800-131A, NIST IR 8547, BSI TR-02102-3, NSA CNSA 2.0 and CNSSP-15, CERT-In and TEC ITSAR (indicative mappings).</a:t>
            </a:r>
          </a:p>
          <a:p>
            <a:pPr algn="l" marL="285750" indent="-285750">
              <a:spcAft>
                <a:spcPts val="900"/>
              </a:spcAft>
              <a:buFont typeface="Arial" pitchFamily="34" charset="0"/>
              <a:buChar char="•"/>
            </a:pPr>
            <a:r>
              <a:rPr lang="en-US" sz="1500" dirty="0" b="1">
                <a:latin typeface="Arial" pitchFamily="34" charset="0"/>
                <a:cs typeface="Arial" pitchFamily="34" charset="0"/>
              </a:rPr>
              <a:t>Vulnerabilities: 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CVE-2016-2183 (SWEET32, 3DES), CVE-2016-1287 (Cisco ASA IKE fragmentation), plus LOGJAM and SLOTH, all covered by the rule engine.</a:t>
            </a:r>
          </a:p>
          <a:p>
            <a:pPr algn="l" marL="285750" indent="-285750">
              <a:spcAft>
                <a:spcPts val="900"/>
              </a:spcAft>
              <a:buFont typeface="Arial" pitchFamily="34" charset="0"/>
              <a:buChar char="•"/>
            </a:pPr>
            <a:r>
              <a:rPr lang="en-US" sz="1500" dirty="0" b="1">
                <a:latin typeface="Arial" pitchFamily="34" charset="0"/>
                <a:cs typeface="Arial" pitchFamily="34" charset="0"/>
              </a:rPr>
              <a:t>Prior art compared: 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ike-scan, ikeforce, iker.py, Wireshark, Tufin and AlgoSec, Nessus IPsec plugins. These decode or scan configuration; none pairs runtime attack detection with traffic-type inference inside ESP.</a:t>
            </a:r>
          </a:p>
          <a:p>
            <a:pPr algn="l" marL="285750" indent="-285750">
              <a:spcAft>
                <a:spcPts val="900"/>
              </a:spcAft>
              <a:buFont typeface="Arial" pitchFamily="34" charset="0"/>
              <a:buChar char="•"/>
            </a:pPr>
            <a:r>
              <a:rPr lang="en-US" sz="1500" dirty="0" b="1">
                <a:latin typeface="Arial" pitchFamily="34" charset="0"/>
                <a:cs typeface="Arial" pitchFamily="34" charset="0"/>
              </a:rPr>
              <a:t>Method: 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encrypted-traffic classification from packet-size and timing side channels (RandomForest, XGBoost); strongSwan documentation.</a:t>
            </a:r>
          </a:p>
          <a:p>
            <a:pPr algn="l" marL="285750" indent="-285750">
              <a:spcAft>
                <a:spcPts val="900"/>
              </a:spcAft>
              <a:buFont typeface="Arial" pitchFamily="34" charset="0"/>
              <a:buChar char="•"/>
            </a:pPr>
            <a:r>
              <a:rPr lang="en-US" sz="1500" dirty="0" b="1">
                <a:latin typeface="Arial" pitchFamily="34" charset="0"/>
                <a:cs typeface="Arial" pitchFamily="34" charset="0"/>
              </a:rPr>
              <a:t>Source and data: </a:t>
            </a:r>
            <a:r>
              <a:rPr lang="en-US" sz="1500" dirty="0">
                <a:latin typeface="Arial" pitchFamily="34" charset="0"/>
                <a:cs typeface="Arial" pitchFamily="34" charset="0"/>
              </a:rPr>
              <a:t>github.com/shivansh193/vaultscope (README, design document, data/DATASHEET.md).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 lIns="0" rIns="0"/>
          <a:lstStyle/>
          <a:p>
            <a:pPr algn="ctr"/>
            <a:r>
              <a:rPr lang="en-US" dirty="0" sz="1400"/>
              <a:t>VaultScope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